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3404" y="-1"/>
            <a:ext cx="8962534" cy="398417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 : </a:t>
            </a:r>
            <a:r>
              <a:rPr lang="en-US" sz="40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Text Search and Retrieval Techniques for Healthcare Systems</a:t>
            </a:r>
            <a:br>
              <a:rPr lang="en-US" sz="4000" dirty="0"/>
            </a:b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9183" y="3429000"/>
            <a:ext cx="7641772" cy="3275046"/>
          </a:xfrm>
        </p:spPr>
        <p:txBody>
          <a:bodyPr/>
          <a:lstStyle/>
          <a:p>
            <a:r>
              <a:rPr lang="en-US" sz="1800" dirty="0"/>
              <a:t>PRESENTED BY :</a:t>
            </a:r>
          </a:p>
          <a:p>
            <a:r>
              <a:rPr lang="en-US" sz="1800" dirty="0"/>
              <a:t>2520030486 – M.MOHANA ASMITHA</a:t>
            </a:r>
          </a:p>
          <a:p>
            <a:r>
              <a:rPr lang="en-US" sz="1800" dirty="0"/>
              <a:t>2520030118 – G.LAASYA CHOWDARY</a:t>
            </a:r>
          </a:p>
          <a:p>
            <a:r>
              <a:rPr lang="en-US" sz="1800" dirty="0"/>
              <a:t>2520030130 – CH.NOHITHA</a:t>
            </a:r>
          </a:p>
          <a:p>
            <a:r>
              <a:rPr lang="en-US" sz="1800" dirty="0"/>
              <a:t>2520030193 – K.DHEERAJ 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Faculty Name</a:t>
            </a:r>
            <a:r>
              <a:rPr lang="en-US" sz="1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: Dr S Madhavi</a:t>
            </a:r>
            <a:endParaRPr lang="en-US" sz="1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Department : CSE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Designation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7FAF3-6358-27EE-CB88-267193DC65E7}"/>
              </a:ext>
            </a:extLst>
          </p:cNvPr>
          <p:cNvSpPr txBox="1"/>
          <p:nvPr/>
        </p:nvSpPr>
        <p:spPr>
          <a:xfrm>
            <a:off x="1399592" y="1353104"/>
            <a:ext cx="997391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In modern healthcare systems, quick and accurate retrieval of information such as </a:t>
            </a:r>
            <a:r>
              <a:rPr lang="en-IN" sz="2000" b="1" dirty="0"/>
              <a:t>drug names, symptoms, diagnoses, and patient details</a:t>
            </a:r>
            <a:r>
              <a:rPr lang="en-IN" sz="2000" dirty="0"/>
              <a:t> is important. </a:t>
            </a:r>
            <a:r>
              <a:rPr lang="en-IN" sz="2000" dirty="0" err="1"/>
              <a:t>HealthQuery</a:t>
            </a:r>
            <a:r>
              <a:rPr lang="en-IN" sz="2000" dirty="0"/>
              <a:t> provides a smart search platform that organizes medical information and helps users find relevant records efficiently.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Smart Medical Search:</a:t>
            </a:r>
            <a:r>
              <a:rPr lang="en-IN" sz="2000" dirty="0"/>
              <a:t> Supports exact and fuzzy searching for patient and medical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Spelling Correction:</a:t>
            </a:r>
            <a:r>
              <a:rPr lang="en-IN" sz="2000" dirty="0"/>
              <a:t> Handles misspelled medical terms using Minimum Edit Distance.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DSA-Based Processing:</a:t>
            </a:r>
            <a:r>
              <a:rPr lang="en-IN" sz="2000" dirty="0"/>
              <a:t> Applies string matching and Dynamic Programming for efficient text processing.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Hospital Resource Allocation:</a:t>
            </a:r>
            <a:r>
              <a:rPr lang="en-IN" sz="2000" dirty="0"/>
              <a:t> Models department capacity using Maximum Flow.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Performance Evaluation:</a:t>
            </a:r>
            <a:r>
              <a:rPr lang="en-IN" sz="2000" dirty="0"/>
              <a:t> Uses benchmark testing to evaluate search and correction performance. </a:t>
            </a:r>
          </a:p>
          <a:p>
            <a:r>
              <a:rPr lang="en-IN" sz="2000" dirty="0"/>
              <a:t>Overall, </a:t>
            </a:r>
            <a:r>
              <a:rPr lang="en-IN" sz="2000" dirty="0" err="1"/>
              <a:t>HealthQuery</a:t>
            </a:r>
            <a:r>
              <a:rPr lang="en-IN" sz="2000" dirty="0"/>
              <a:t> combines </a:t>
            </a:r>
            <a:r>
              <a:rPr lang="en-IN" sz="2000" b="1" dirty="0"/>
              <a:t>medical information management and DSA techniques</a:t>
            </a:r>
            <a:r>
              <a:rPr lang="en-IN" sz="2000" dirty="0"/>
              <a:t> to provide a practical solution for healthcare search and information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92FDC-D105-39FD-87E4-16FE3D0994F1}"/>
              </a:ext>
            </a:extLst>
          </p:cNvPr>
          <p:cNvSpPr txBox="1"/>
          <p:nvPr/>
        </p:nvSpPr>
        <p:spPr>
          <a:xfrm>
            <a:off x="1032260" y="1277803"/>
            <a:ext cx="108284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• Medical patient records contain large amounts of information such as </a:t>
            </a:r>
            <a:r>
              <a:rPr lang="en-IN" sz="2400" b="1" dirty="0"/>
              <a:t>patient details, diagnoses, symptoms, medications, and departments</a:t>
            </a:r>
            <a:r>
              <a:rPr lang="en-IN" sz="2400" dirty="0"/>
              <a:t>.</a:t>
            </a:r>
          </a:p>
          <a:p>
            <a:r>
              <a:rPr lang="en-IN" sz="2400" dirty="0"/>
              <a:t>• Searching this information using only exact matching can fail when users enter </a:t>
            </a:r>
            <a:r>
              <a:rPr lang="en-IN" sz="2400" b="1" dirty="0"/>
              <a:t>spelling mistakes or incomplete medical terms</a:t>
            </a:r>
            <a:r>
              <a:rPr lang="en-IN" sz="2400" dirty="0"/>
              <a:t>.</a:t>
            </a:r>
          </a:p>
          <a:p>
            <a:r>
              <a:rPr lang="en-IN" sz="2400" dirty="0"/>
              <a:t> Traditional search methods can result in:</a:t>
            </a:r>
          </a:p>
          <a:p>
            <a:r>
              <a:rPr lang="en-IN" sz="2400" dirty="0"/>
              <a:t>• Difficulty finding relevant patient records</a:t>
            </a:r>
          </a:p>
          <a:p>
            <a:r>
              <a:rPr lang="en-IN" sz="2400" dirty="0"/>
              <a:t>• Missed results due to spelling errors</a:t>
            </a:r>
          </a:p>
          <a:p>
            <a:r>
              <a:rPr lang="en-IN" sz="2400" dirty="0"/>
              <a:t>• Inefficient medical-term searching</a:t>
            </a:r>
          </a:p>
          <a:p>
            <a:r>
              <a:rPr lang="en-IN" sz="2400" dirty="0"/>
              <a:t>• Difficulty comparing different string-matching techniques</a:t>
            </a:r>
          </a:p>
          <a:p>
            <a:r>
              <a:rPr lang="en-IN" sz="2400" dirty="0"/>
              <a:t>• Limited evaluation of search accuracy and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0E2F87-F962-BA97-B165-DB3207890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126129"/>
              </p:ext>
            </p:extLst>
          </p:nvPr>
        </p:nvGraphicFramePr>
        <p:xfrm>
          <a:off x="1959429" y="1054359"/>
          <a:ext cx="7815084" cy="365715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377064">
                  <a:extLst>
                    <a:ext uri="{9D8B030D-6E8A-4147-A177-3AD203B41FA5}">
                      <a16:colId xmlns:a16="http://schemas.microsoft.com/office/drawing/2014/main" val="2804999818"/>
                    </a:ext>
                  </a:extLst>
                </a:gridCol>
                <a:gridCol w="2719010">
                  <a:extLst>
                    <a:ext uri="{9D8B030D-6E8A-4147-A177-3AD203B41FA5}">
                      <a16:colId xmlns:a16="http://schemas.microsoft.com/office/drawing/2014/main" val="1574390477"/>
                    </a:ext>
                  </a:extLst>
                </a:gridCol>
                <a:gridCol w="2719010">
                  <a:extLst>
                    <a:ext uri="{9D8B030D-6E8A-4147-A177-3AD203B41FA5}">
                      <a16:colId xmlns:a16="http://schemas.microsoft.com/office/drawing/2014/main" val="3385387284"/>
                    </a:ext>
                  </a:extLst>
                </a:gridCol>
              </a:tblGrid>
              <a:tr h="424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Existing Approach</a:t>
                      </a:r>
                    </a:p>
                  </a:txBody>
                  <a:tcPr marL="141798" marR="109075" marT="109075" marB="1090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Limitation</a:t>
                      </a:r>
                    </a:p>
                  </a:txBody>
                  <a:tcPr marL="141798" marR="109075" marT="109075" marB="1090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Technique Used</a:t>
                      </a:r>
                    </a:p>
                  </a:txBody>
                  <a:tcPr marL="141798" marR="109075" marT="109075" marB="109075" anchor="ctr"/>
                </a:tc>
                <a:extLst>
                  <a:ext uri="{0D108BD9-81ED-4DB2-BD59-A6C34878D82A}">
                    <a16:rowId xmlns:a16="http://schemas.microsoft.com/office/drawing/2014/main" val="2547758571"/>
                  </a:ext>
                </a:extLst>
              </a:tr>
              <a:tr h="551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Traditional Patient Search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Exact matching may miss relevant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Exact + Fuzzy Search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45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Spelling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Manual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Time-consuming and inconsistent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041112"/>
                  </a:ext>
                </a:extLst>
              </a:tr>
              <a:tr h="648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Manual Medical-Term Search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Spelling errors can produce no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Levenshtein</a:t>
                      </a:r>
                      <a:r>
                        <a:rPr lang="en-IN" b="1" dirty="0"/>
                        <a:t> Distance for correction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627358"/>
                  </a:ext>
                </a:extLst>
              </a:tr>
              <a:tr h="648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Basic String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May be inefficient for repeated pattern searches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Naive + KMP + Rabin-Karp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8889"/>
                  </a:ext>
                </a:extLst>
              </a:tr>
              <a:tr h="648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Manual Hospital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Difficult to manage department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Edmonds-Karp Maximum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40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F51003E-3374-26DC-0260-DD4BC6186ACC}"/>
              </a:ext>
            </a:extLst>
          </p:cNvPr>
          <p:cNvSpPr txBox="1"/>
          <p:nvPr/>
        </p:nvSpPr>
        <p:spPr>
          <a:xfrm>
            <a:off x="1283370" y="4711511"/>
            <a:ext cx="102829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Research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Exact matching limitations</a:t>
            </a:r>
            <a:r>
              <a:rPr lang="en-IN" dirty="0"/>
              <a:t> – Traditional medical search may fail when users enter </a:t>
            </a:r>
            <a:r>
              <a:rPr lang="en-IN" b="1" dirty="0"/>
              <a:t>misspelled or incomplete medical terms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Limited intelligent search</a:t>
            </a:r>
            <a:r>
              <a:rPr lang="en-IN" dirty="0"/>
              <a:t> – Existing basic approaches may not combine </a:t>
            </a:r>
            <a:r>
              <a:rPr lang="en-IN" b="1" dirty="0"/>
              <a:t>fuzzy search and automatic spelling correction</a:t>
            </a:r>
            <a:r>
              <a:rPr lang="en-IN" dirty="0"/>
              <a:t>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Need for multiple DSA techniques</a:t>
            </a:r>
            <a:r>
              <a:rPr lang="en-IN" dirty="0"/>
              <a:t> – There is a need to combine </a:t>
            </a:r>
            <a:r>
              <a:rPr lang="en-IN" b="1" dirty="0"/>
              <a:t>String Matching, </a:t>
            </a:r>
            <a:r>
              <a:rPr lang="en-IN" b="1" dirty="0" err="1"/>
              <a:t>Levenshtein</a:t>
            </a:r>
            <a:r>
              <a:rPr lang="en-IN" b="1" dirty="0"/>
              <a:t> Dynamic Programming, and Maximum Flow</a:t>
            </a:r>
            <a:r>
              <a:rPr lang="en-IN" dirty="0"/>
              <a:t> for different healthcare search and resource-allocation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8E70C-D8A7-A981-FA29-1EEFEE589740}"/>
              </a:ext>
            </a:extLst>
          </p:cNvPr>
          <p:cNvSpPr txBox="1"/>
          <p:nvPr/>
        </p:nvSpPr>
        <p:spPr>
          <a:xfrm>
            <a:off x="593558" y="1582340"/>
            <a:ext cx="113257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Problem Statement</a:t>
            </a:r>
          </a:p>
          <a:p>
            <a:r>
              <a:rPr lang="en-IN" sz="2000" dirty="0"/>
              <a:t>Medical patient systems need to provide </a:t>
            </a:r>
            <a:r>
              <a:rPr lang="en-IN" sz="2000" b="1" dirty="0"/>
              <a:t>fast and accurate searching</a:t>
            </a:r>
            <a:r>
              <a:rPr lang="en-IN" sz="2000" dirty="0"/>
              <a:t> of patient records and medical information. Traditional exact keyword searching can fail when users enter </a:t>
            </a:r>
            <a:r>
              <a:rPr lang="en-IN" sz="2000" b="1" dirty="0"/>
              <a:t>misspelled or incomplete medical terms</a:t>
            </a:r>
            <a:r>
              <a:rPr lang="en-IN" sz="2000" dirty="0"/>
              <a:t>, making it difficult to find relevant information efficiently.</a:t>
            </a:r>
          </a:p>
          <a:p>
            <a:r>
              <a:rPr lang="en-IN" sz="20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Manage and search </a:t>
            </a:r>
            <a:r>
              <a:rPr lang="en-IN" sz="2000" b="1" dirty="0"/>
              <a:t>patient records</a:t>
            </a:r>
            <a:r>
              <a:rPr lang="en-IN" sz="2000" dirty="0"/>
              <a:t> efficiently.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 </a:t>
            </a:r>
            <a:r>
              <a:rPr lang="en-IN" sz="2000" b="1" dirty="0"/>
              <a:t>exact and fuzzy search</a:t>
            </a:r>
            <a:r>
              <a:rPr lang="en-IN" sz="2000" dirty="0"/>
              <a:t> for medical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 and correct </a:t>
            </a:r>
            <a:r>
              <a:rPr lang="en-IN" sz="2000" b="1" dirty="0"/>
              <a:t>misspelled medical terms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Apply </a:t>
            </a:r>
            <a:r>
              <a:rPr lang="en-IN" sz="2000" b="1" dirty="0"/>
              <a:t>Naive, KMP, and Rabin-Karp</a:t>
            </a:r>
            <a:r>
              <a:rPr lang="en-IN" sz="2000" dirty="0"/>
              <a:t> string-matching techniques.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 </a:t>
            </a:r>
            <a:r>
              <a:rPr lang="en-IN" sz="2000" b="1" dirty="0" err="1"/>
              <a:t>Levenshtein</a:t>
            </a:r>
            <a:r>
              <a:rPr lang="en-IN" sz="2000" b="1" dirty="0"/>
              <a:t> Distance with Dynamic Programming</a:t>
            </a:r>
            <a:r>
              <a:rPr lang="en-IN" sz="2000" dirty="0"/>
              <a:t> for spelling correction.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 the </a:t>
            </a:r>
            <a:r>
              <a:rPr lang="en-IN" sz="2000" b="1" dirty="0"/>
              <a:t>performance and accuracy</a:t>
            </a:r>
            <a:r>
              <a:rPr lang="en-IN" sz="2000" dirty="0"/>
              <a:t> of different searching techniques.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Evaluate the system using </a:t>
            </a:r>
            <a:r>
              <a:rPr lang="en-IN" sz="2000" b="1" dirty="0"/>
              <a:t>benchmark test cases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 </a:t>
            </a:r>
            <a:r>
              <a:rPr lang="en-IN" sz="2000" b="1" dirty="0"/>
              <a:t>Edmonds-Karp Maximum Flow</a:t>
            </a:r>
            <a:r>
              <a:rPr lang="en-IN" sz="2000" dirty="0"/>
              <a:t> for hospital department capacity allocation.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 a practical </a:t>
            </a:r>
            <a:r>
              <a:rPr lang="en-IN" sz="2000" b="1" dirty="0"/>
              <a:t>DSA-based medical search system</a:t>
            </a:r>
            <a:r>
              <a:rPr lang="en-IN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2C3DE-43F7-EE74-0515-BA8A492A0298}"/>
              </a:ext>
            </a:extLst>
          </p:cNvPr>
          <p:cNvSpPr/>
          <p:nvPr/>
        </p:nvSpPr>
        <p:spPr>
          <a:xfrm>
            <a:off x="1707502" y="1082351"/>
            <a:ext cx="173549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52AB96-E967-37C6-6F41-6F3F24EE48B5}"/>
              </a:ext>
            </a:extLst>
          </p:cNvPr>
          <p:cNvCxnSpPr>
            <a:cxnSpLocks/>
          </p:cNvCxnSpPr>
          <p:nvPr/>
        </p:nvCxnSpPr>
        <p:spPr>
          <a:xfrm>
            <a:off x="2548105" y="1667126"/>
            <a:ext cx="0" cy="32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9583138-C7E0-EF30-D38A-D3820271405B}"/>
              </a:ext>
            </a:extLst>
          </p:cNvPr>
          <p:cNvSpPr/>
          <p:nvPr/>
        </p:nvSpPr>
        <p:spPr>
          <a:xfrm>
            <a:off x="1707502" y="1996751"/>
            <a:ext cx="173549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Load Patient &amp; Medical Data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DF6CC8-739E-A863-03BE-E8F9669764F6}"/>
              </a:ext>
            </a:extLst>
          </p:cNvPr>
          <p:cNvSpPr/>
          <p:nvPr/>
        </p:nvSpPr>
        <p:spPr>
          <a:xfrm>
            <a:off x="1516091" y="2911151"/>
            <a:ext cx="2287961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Select Option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B4C13F-651F-6D2B-E5E2-FA9B7618D7FD}"/>
              </a:ext>
            </a:extLst>
          </p:cNvPr>
          <p:cNvCxnSpPr>
            <a:cxnSpLocks/>
          </p:cNvCxnSpPr>
          <p:nvPr/>
        </p:nvCxnSpPr>
        <p:spPr>
          <a:xfrm>
            <a:off x="2548105" y="2581526"/>
            <a:ext cx="0" cy="32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DB2067E-6216-4053-FE99-F172B6E45034}"/>
              </a:ext>
            </a:extLst>
          </p:cNvPr>
          <p:cNvSpPr/>
          <p:nvPr/>
        </p:nvSpPr>
        <p:spPr>
          <a:xfrm>
            <a:off x="648344" y="3957026"/>
            <a:ext cx="173549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Patient Search Exact/Fuzzy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E09868-5603-467B-B69A-08942A760BAA}"/>
              </a:ext>
            </a:extLst>
          </p:cNvPr>
          <p:cNvSpPr/>
          <p:nvPr/>
        </p:nvSpPr>
        <p:spPr>
          <a:xfrm>
            <a:off x="3199418" y="3957025"/>
            <a:ext cx="173549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Medical Search  </a:t>
            </a:r>
            <a:r>
              <a:rPr lang="en-IN" dirty="0" err="1"/>
              <a:t>Search</a:t>
            </a:r>
            <a:r>
              <a:rPr lang="en-IN" dirty="0"/>
              <a:t> Terms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97F243-684B-D92F-A62B-29E9D0CD7AF9}"/>
              </a:ext>
            </a:extLst>
          </p:cNvPr>
          <p:cNvCxnSpPr>
            <a:cxnSpLocks/>
          </p:cNvCxnSpPr>
          <p:nvPr/>
        </p:nvCxnSpPr>
        <p:spPr>
          <a:xfrm>
            <a:off x="2580680" y="3495926"/>
            <a:ext cx="0" cy="257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BB5886-94F4-F24F-A7E8-90F7F6975A47}"/>
              </a:ext>
            </a:extLst>
          </p:cNvPr>
          <p:cNvCxnSpPr>
            <a:cxnSpLocks/>
          </p:cNvCxnSpPr>
          <p:nvPr/>
        </p:nvCxnSpPr>
        <p:spPr>
          <a:xfrm flipH="1">
            <a:off x="1832758" y="3753853"/>
            <a:ext cx="742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6D0677-6A6B-BA2C-3627-B0F44DFF2767}"/>
              </a:ext>
            </a:extLst>
          </p:cNvPr>
          <p:cNvCxnSpPr>
            <a:cxnSpLocks/>
          </p:cNvCxnSpPr>
          <p:nvPr/>
        </p:nvCxnSpPr>
        <p:spPr>
          <a:xfrm>
            <a:off x="2610771" y="3753853"/>
            <a:ext cx="832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65B714-CCA1-6CA5-7393-F9ADB1D77086}"/>
              </a:ext>
            </a:extLst>
          </p:cNvPr>
          <p:cNvCxnSpPr>
            <a:cxnSpLocks/>
          </p:cNvCxnSpPr>
          <p:nvPr/>
        </p:nvCxnSpPr>
        <p:spPr>
          <a:xfrm>
            <a:off x="1886316" y="3765462"/>
            <a:ext cx="0" cy="19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09DF70-5E0A-A4FA-9609-B0A0A3C564C2}"/>
              </a:ext>
            </a:extLst>
          </p:cNvPr>
          <p:cNvCxnSpPr>
            <a:cxnSpLocks/>
          </p:cNvCxnSpPr>
          <p:nvPr/>
        </p:nvCxnSpPr>
        <p:spPr>
          <a:xfrm>
            <a:off x="3392280" y="3753430"/>
            <a:ext cx="0" cy="203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37F2B1-BA71-9136-6E5B-64F0572CAC7F}"/>
              </a:ext>
            </a:extLst>
          </p:cNvPr>
          <p:cNvCxnSpPr>
            <a:cxnSpLocks/>
          </p:cNvCxnSpPr>
          <p:nvPr/>
        </p:nvCxnSpPr>
        <p:spPr>
          <a:xfrm>
            <a:off x="1559938" y="4516303"/>
            <a:ext cx="0" cy="376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464C9EF-C9F3-B7CC-EF49-24D3F23A0769}"/>
              </a:ext>
            </a:extLst>
          </p:cNvPr>
          <p:cNvCxnSpPr>
            <a:cxnSpLocks/>
          </p:cNvCxnSpPr>
          <p:nvPr/>
        </p:nvCxnSpPr>
        <p:spPr>
          <a:xfrm>
            <a:off x="3918619" y="4541800"/>
            <a:ext cx="0" cy="35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8755D3A-07D4-B9A3-4F08-5C3E3A9E25FE}"/>
              </a:ext>
            </a:extLst>
          </p:cNvPr>
          <p:cNvCxnSpPr>
            <a:cxnSpLocks/>
          </p:cNvCxnSpPr>
          <p:nvPr/>
        </p:nvCxnSpPr>
        <p:spPr>
          <a:xfrm>
            <a:off x="1599277" y="4845166"/>
            <a:ext cx="10607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33BDB22-197E-5811-0453-505329E04F67}"/>
              </a:ext>
            </a:extLst>
          </p:cNvPr>
          <p:cNvCxnSpPr>
            <a:cxnSpLocks/>
          </p:cNvCxnSpPr>
          <p:nvPr/>
        </p:nvCxnSpPr>
        <p:spPr>
          <a:xfrm flipH="1">
            <a:off x="2660071" y="4845166"/>
            <a:ext cx="1258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F5048F1-99A7-6358-D573-1A19A5254D0C}"/>
              </a:ext>
            </a:extLst>
          </p:cNvPr>
          <p:cNvCxnSpPr>
            <a:cxnSpLocks/>
          </p:cNvCxnSpPr>
          <p:nvPr/>
        </p:nvCxnSpPr>
        <p:spPr>
          <a:xfrm>
            <a:off x="2660071" y="4845166"/>
            <a:ext cx="0" cy="394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C81A1409-5B75-1D67-4038-7FED08FAA771}"/>
              </a:ext>
            </a:extLst>
          </p:cNvPr>
          <p:cNvSpPr/>
          <p:nvPr/>
        </p:nvSpPr>
        <p:spPr>
          <a:xfrm>
            <a:off x="1599277" y="5239944"/>
            <a:ext cx="2136831" cy="849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Spelling Correction </a:t>
            </a:r>
          </a:p>
          <a:p>
            <a:pPr algn="ctr"/>
            <a:r>
              <a:rPr lang="en-IN" dirty="0"/>
              <a:t>Edit Distance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7EDEA81-2225-B684-4A14-9418015BE2DE}"/>
              </a:ext>
            </a:extLst>
          </p:cNvPr>
          <p:cNvSpPr/>
          <p:nvPr/>
        </p:nvSpPr>
        <p:spPr>
          <a:xfrm>
            <a:off x="7521309" y="1680772"/>
            <a:ext cx="3635385" cy="487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Calculate Minimum Edit </a:t>
            </a:r>
            <a:r>
              <a:rPr lang="en-IN" dirty="0" err="1"/>
              <a:t>DIstance</a:t>
            </a:r>
            <a:endParaRPr lang="en-IN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D6105A6-EE37-E666-B588-3AC6B8C47750}"/>
              </a:ext>
            </a:extLst>
          </p:cNvPr>
          <p:cNvCxnSpPr>
            <a:cxnSpLocks/>
          </p:cNvCxnSpPr>
          <p:nvPr/>
        </p:nvCxnSpPr>
        <p:spPr>
          <a:xfrm>
            <a:off x="8997149" y="1374738"/>
            <a:ext cx="0" cy="32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5E31B8D-30D8-FD2E-AE8A-500843AF0B82}"/>
              </a:ext>
            </a:extLst>
          </p:cNvPr>
          <p:cNvSpPr/>
          <p:nvPr/>
        </p:nvSpPr>
        <p:spPr>
          <a:xfrm>
            <a:off x="7849542" y="878146"/>
            <a:ext cx="2924595" cy="5197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Build </a:t>
            </a:r>
            <a:r>
              <a:rPr lang="en-IN" dirty="0" err="1"/>
              <a:t>Levenshtein</a:t>
            </a:r>
            <a:r>
              <a:rPr lang="en-IN" dirty="0"/>
              <a:t> DP Matrix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B70752F-2D8C-8225-ADA7-74BAE1AA8EDE}"/>
              </a:ext>
            </a:extLst>
          </p:cNvPr>
          <p:cNvSpPr/>
          <p:nvPr/>
        </p:nvSpPr>
        <p:spPr>
          <a:xfrm>
            <a:off x="7826477" y="2408352"/>
            <a:ext cx="2683965" cy="849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Display Search /  Correction Results 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BC87BB8-1092-FF3B-61A4-0C69FF6D1B22}"/>
              </a:ext>
            </a:extLst>
          </p:cNvPr>
          <p:cNvSpPr/>
          <p:nvPr/>
        </p:nvSpPr>
        <p:spPr>
          <a:xfrm>
            <a:off x="7806396" y="3536938"/>
            <a:ext cx="2683966" cy="849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Department Capacity </a:t>
            </a:r>
          </a:p>
          <a:p>
            <a:pPr algn="ctr"/>
            <a:r>
              <a:rPr lang="en-IN" dirty="0"/>
              <a:t> Allocation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862BFEE-333A-BEA5-A0EA-E7AC9DA651D2}"/>
              </a:ext>
            </a:extLst>
          </p:cNvPr>
          <p:cNvSpPr/>
          <p:nvPr/>
        </p:nvSpPr>
        <p:spPr>
          <a:xfrm>
            <a:off x="7870532" y="4754683"/>
            <a:ext cx="2683966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Maximum Flow Result 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F30E7C6-A5D8-37FC-5F66-50B61908146E}"/>
              </a:ext>
            </a:extLst>
          </p:cNvPr>
          <p:cNvCxnSpPr>
            <a:cxnSpLocks/>
          </p:cNvCxnSpPr>
          <p:nvPr/>
        </p:nvCxnSpPr>
        <p:spPr>
          <a:xfrm>
            <a:off x="8997149" y="2115965"/>
            <a:ext cx="0" cy="29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F325612-7375-53A2-320E-EA449B47AC07}"/>
              </a:ext>
            </a:extLst>
          </p:cNvPr>
          <p:cNvCxnSpPr>
            <a:cxnSpLocks/>
          </p:cNvCxnSpPr>
          <p:nvPr/>
        </p:nvCxnSpPr>
        <p:spPr>
          <a:xfrm>
            <a:off x="9012722" y="5339458"/>
            <a:ext cx="0" cy="27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40E0906-9C2B-D2F2-573D-BB198F770AAB}"/>
              </a:ext>
            </a:extLst>
          </p:cNvPr>
          <p:cNvCxnSpPr>
            <a:cxnSpLocks/>
          </p:cNvCxnSpPr>
          <p:nvPr/>
        </p:nvCxnSpPr>
        <p:spPr>
          <a:xfrm>
            <a:off x="8997149" y="4424934"/>
            <a:ext cx="0" cy="29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7CB58F0-6846-4D41-B56F-4629AE91C7B1}"/>
              </a:ext>
            </a:extLst>
          </p:cNvPr>
          <p:cNvCxnSpPr>
            <a:cxnSpLocks/>
          </p:cNvCxnSpPr>
          <p:nvPr/>
        </p:nvCxnSpPr>
        <p:spPr>
          <a:xfrm>
            <a:off x="9012722" y="3257842"/>
            <a:ext cx="0" cy="29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1D6EF881-4FEB-9A36-3E9A-42403B004096}"/>
              </a:ext>
            </a:extLst>
          </p:cNvPr>
          <p:cNvSpPr/>
          <p:nvPr/>
        </p:nvSpPr>
        <p:spPr>
          <a:xfrm>
            <a:off x="7849542" y="5616698"/>
            <a:ext cx="2924594" cy="5197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Benchmark &amp; Performance Evaluation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2AAFDC1-C266-1400-BA3E-14ED819AAB17}"/>
              </a:ext>
            </a:extLst>
          </p:cNvPr>
          <p:cNvCxnSpPr>
            <a:cxnSpLocks/>
          </p:cNvCxnSpPr>
          <p:nvPr/>
        </p:nvCxnSpPr>
        <p:spPr>
          <a:xfrm>
            <a:off x="8997149" y="6136430"/>
            <a:ext cx="15573" cy="27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C7F16CC-9728-34A5-890A-045D6BA0C749}"/>
              </a:ext>
            </a:extLst>
          </p:cNvPr>
          <p:cNvSpPr/>
          <p:nvPr/>
        </p:nvSpPr>
        <p:spPr>
          <a:xfrm>
            <a:off x="8144975" y="6428460"/>
            <a:ext cx="1721857" cy="277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A6298-8293-15A9-9308-442709145836}"/>
              </a:ext>
            </a:extLst>
          </p:cNvPr>
          <p:cNvSpPr txBox="1"/>
          <p:nvPr/>
        </p:nvSpPr>
        <p:spPr>
          <a:xfrm>
            <a:off x="212209" y="1058780"/>
            <a:ext cx="107766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Expected/Obtained Results – </a:t>
            </a:r>
            <a:r>
              <a:rPr lang="en-IN" sz="2000" b="1" dirty="0" err="1"/>
              <a:t>HealthQuery</a:t>
            </a:r>
            <a:endParaRPr lang="en-IN" sz="2000" b="1" dirty="0"/>
          </a:p>
          <a:p>
            <a:r>
              <a:rPr lang="en-IN" sz="2000" dirty="0"/>
              <a:t>The system evaluates medical search and DSA performance using several important metrics:</a:t>
            </a:r>
          </a:p>
          <a:p>
            <a:pPr lvl="0"/>
            <a:r>
              <a:rPr lang="en-IN" sz="2000" b="1" dirty="0"/>
              <a:t>Search Accuracy</a:t>
            </a:r>
            <a:r>
              <a:rPr lang="en-IN" sz="2000" dirty="0"/>
              <a:t> – Correct identification of patient records and medical terms. </a:t>
            </a:r>
          </a:p>
          <a:p>
            <a:pPr lvl="0"/>
            <a:r>
              <a:rPr lang="en-IN" sz="2000" b="1" dirty="0"/>
              <a:t>Search Efficiency</a:t>
            </a:r>
            <a:r>
              <a:rPr lang="en-IN" sz="2000" dirty="0"/>
              <a:t> – Time required to find matching records. </a:t>
            </a:r>
          </a:p>
          <a:p>
            <a:pPr lvl="0"/>
            <a:r>
              <a:rPr lang="en-IN" sz="2000" b="1" dirty="0"/>
              <a:t>Spelling Correction Accuracy</a:t>
            </a:r>
            <a:r>
              <a:rPr lang="en-IN" sz="2000" dirty="0"/>
              <a:t> – Ability to identify and correct misspelled medical terms. </a:t>
            </a:r>
          </a:p>
          <a:p>
            <a:pPr lvl="0"/>
            <a:r>
              <a:rPr lang="en-IN" sz="2000" b="1" dirty="0"/>
              <a:t>Edit Distance</a:t>
            </a:r>
            <a:r>
              <a:rPr lang="en-IN" sz="2000" dirty="0"/>
              <a:t> – Minimum number of edits required to transform a misspelled term into the correct term. </a:t>
            </a:r>
          </a:p>
          <a:p>
            <a:pPr lvl="0"/>
            <a:r>
              <a:rPr lang="en-IN" sz="2000" b="1" dirty="0"/>
              <a:t>Algorithm Performance</a:t>
            </a:r>
            <a:r>
              <a:rPr lang="en-IN" sz="2000" dirty="0"/>
              <a:t> – Comparison of Naive, KMP, and Rabin-Karp string matching. </a:t>
            </a:r>
          </a:p>
          <a:p>
            <a:pPr lvl="0"/>
            <a:r>
              <a:rPr lang="en-IN" sz="2000" b="1" dirty="0"/>
              <a:t>Maximum Flow</a:t>
            </a:r>
            <a:r>
              <a:rPr lang="en-IN" sz="2000" dirty="0"/>
              <a:t> – Maximum number of cases that can be allocated according to department capacity. </a:t>
            </a:r>
          </a:p>
          <a:p>
            <a:r>
              <a:rPr lang="en-IN" sz="2000" b="1" dirty="0"/>
              <a:t>Results can be shown using:</a:t>
            </a:r>
          </a:p>
          <a:p>
            <a:pPr lvl="0"/>
            <a:r>
              <a:rPr lang="en-IN" sz="2000" dirty="0"/>
              <a:t>Patient search results </a:t>
            </a:r>
          </a:p>
          <a:p>
            <a:pPr lvl="0"/>
            <a:r>
              <a:rPr lang="en-IN" sz="2000" dirty="0"/>
              <a:t>Exact vs. fuzzy search comparison </a:t>
            </a:r>
          </a:p>
          <a:p>
            <a:pPr lvl="0"/>
            <a:r>
              <a:rPr lang="en-IN" sz="2000" dirty="0" err="1"/>
              <a:t>Levenshtein</a:t>
            </a:r>
            <a:r>
              <a:rPr lang="en-IN" sz="2000" dirty="0"/>
              <a:t> DP matrix </a:t>
            </a:r>
          </a:p>
          <a:p>
            <a:pPr lvl="0"/>
            <a:r>
              <a:rPr lang="en-IN" sz="2000" dirty="0"/>
              <a:t>Spelling correction output </a:t>
            </a:r>
          </a:p>
          <a:p>
            <a:pPr lvl="0"/>
            <a:r>
              <a:rPr lang="en-IN" sz="2000" dirty="0"/>
              <a:t>String-matching algorithm comparison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2F67F-BFAA-26E9-7538-A839DCDCFF28}"/>
              </a:ext>
            </a:extLst>
          </p:cNvPr>
          <p:cNvSpPr txBox="1"/>
          <p:nvPr/>
        </p:nvSpPr>
        <p:spPr>
          <a:xfrm>
            <a:off x="288758" y="906353"/>
            <a:ext cx="1161448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Hardware Requirements</a:t>
            </a:r>
          </a:p>
          <a:p>
            <a:r>
              <a:rPr lang="en-US" sz="2400" b="1" dirty="0">
                <a:ea typeface="+mn-lt"/>
                <a:cs typeface="+mn-lt"/>
              </a:rPr>
              <a:t>Processor:</a:t>
            </a:r>
            <a:r>
              <a:rPr lang="en-US" sz="2400" dirty="0">
                <a:ea typeface="+mn-lt"/>
                <a:cs typeface="+mn-lt"/>
              </a:rPr>
              <a:t> Intel Core i5 / equivalent or above 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RAM:</a:t>
            </a:r>
            <a:r>
              <a:rPr lang="en-US" sz="2400" dirty="0">
                <a:ea typeface="+mn-lt"/>
                <a:cs typeface="+mn-lt"/>
              </a:rPr>
              <a:t> 8 GB or above 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Storage:</a:t>
            </a:r>
            <a:r>
              <a:rPr lang="en-US" sz="2400" dirty="0">
                <a:ea typeface="+mn-lt"/>
                <a:cs typeface="+mn-lt"/>
              </a:rPr>
              <a:t> 256 GB or above 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Display:</a:t>
            </a:r>
            <a:r>
              <a:rPr lang="en-US" sz="2400" dirty="0">
                <a:ea typeface="+mn-lt"/>
                <a:cs typeface="+mn-lt"/>
              </a:rPr>
              <a:t> Standard monitor 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Internet: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IN" sz="2400" dirty="0"/>
              <a:t>Not required for core system execution</a:t>
            </a:r>
            <a:endParaRPr lang="en-US" sz="2400" dirty="0"/>
          </a:p>
          <a:p>
            <a:r>
              <a:rPr lang="en-US" sz="2400" b="1" dirty="0"/>
              <a:t>Software Requirements</a:t>
            </a:r>
          </a:p>
          <a:p>
            <a:r>
              <a:rPr lang="en-US" sz="2400" b="1" dirty="0">
                <a:ea typeface="+mn-lt"/>
                <a:cs typeface="+mn-lt"/>
              </a:rPr>
              <a:t>Operating System:</a:t>
            </a:r>
            <a:r>
              <a:rPr lang="en-US" sz="2400" dirty="0">
                <a:ea typeface="+mn-lt"/>
                <a:cs typeface="+mn-lt"/>
              </a:rPr>
              <a:t> Windows / Linux 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Programming Language:</a:t>
            </a:r>
            <a:r>
              <a:rPr lang="en-US" sz="2400" dirty="0">
                <a:ea typeface="+mn-lt"/>
                <a:cs typeface="+mn-lt"/>
              </a:rPr>
              <a:t> Java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IDE:</a:t>
            </a:r>
            <a:r>
              <a:rPr lang="en-US" sz="2400" dirty="0">
                <a:ea typeface="+mn-lt"/>
                <a:cs typeface="+mn-lt"/>
              </a:rPr>
              <a:t> VS Code / </a:t>
            </a:r>
            <a:r>
              <a:rPr lang="en-IN" sz="2400" dirty="0"/>
              <a:t>IntelliJ IDEA / Eclipse</a:t>
            </a:r>
            <a:endParaRPr lang="en-US" sz="2400" dirty="0"/>
          </a:p>
          <a:p>
            <a:r>
              <a:rPr lang="en-IN" sz="2400" b="1" dirty="0"/>
              <a:t>JDK:</a:t>
            </a:r>
            <a:r>
              <a:rPr lang="en-IN" sz="2400" dirty="0"/>
              <a:t> Java JDK 8 or above</a:t>
            </a:r>
          </a:p>
          <a:p>
            <a:r>
              <a:rPr lang="en-IN" sz="2400" b="1" dirty="0"/>
              <a:t>Algorithms:</a:t>
            </a:r>
            <a:r>
              <a:rPr lang="en-IN" sz="2400" dirty="0"/>
              <a:t> Naive String Matching, KMP, Rabin-Karp, </a:t>
            </a:r>
            <a:r>
              <a:rPr lang="en-IN" sz="2400" dirty="0" err="1"/>
              <a:t>Levenshtein</a:t>
            </a:r>
            <a:r>
              <a:rPr lang="en-IN" sz="2400" dirty="0"/>
              <a:t> Distance(Dynamic Programming), Edmonds-Karp Maximum Flow</a:t>
            </a:r>
          </a:p>
          <a:p>
            <a:r>
              <a:rPr lang="en-IN" sz="2400" b="1" dirty="0"/>
              <a:t>Database:</a:t>
            </a:r>
            <a:r>
              <a:rPr lang="en-IN" sz="2400" dirty="0"/>
              <a:t> patient and medical data are generated/stored within the Java application</a:t>
            </a:r>
          </a:p>
          <a:p>
            <a:r>
              <a:rPr lang="en-IN" sz="2400" b="1" dirty="0"/>
              <a:t>Visualization/Output:</a:t>
            </a:r>
            <a:r>
              <a:rPr lang="en-IN" sz="2400" dirty="0"/>
              <a:t> DP Matrix, Search Results, Benchmark Results, and Maximum-Flow Network Output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8C2FA-CDED-0B74-F7CC-D530C1A66D6A}"/>
              </a:ext>
            </a:extLst>
          </p:cNvPr>
          <p:cNvSpPr txBox="1"/>
          <p:nvPr/>
        </p:nvSpPr>
        <p:spPr>
          <a:xfrm>
            <a:off x="1363580" y="1524000"/>
            <a:ext cx="9448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 err="1"/>
              <a:t>HealthQuery</a:t>
            </a:r>
            <a:r>
              <a:rPr lang="en-IN" sz="2400" b="1" dirty="0"/>
              <a:t> Engine</a:t>
            </a:r>
            <a:r>
              <a:rPr lang="en-IN" sz="2400" dirty="0"/>
              <a:t> provides a simple and practical platform for accessing medical patient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makes searching </a:t>
            </a:r>
            <a:r>
              <a:rPr lang="en-IN" sz="2400" b="1" dirty="0"/>
              <a:t>faster, easier, and more flexible</a:t>
            </a:r>
            <a:r>
              <a:rPr lang="en-IN" sz="2400" dirty="0"/>
              <a:t>, especially when medical terms are entered incorrectly.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system brings together </a:t>
            </a:r>
            <a:r>
              <a:rPr lang="en-IN" sz="2400" b="1" dirty="0"/>
              <a:t>patient records, medical information, and search capabilities</a:t>
            </a:r>
            <a:r>
              <a:rPr lang="en-IN" sz="2400" dirty="0"/>
              <a:t> in one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also helps demonstrate how computational techniques can be applied to solve </a:t>
            </a:r>
            <a:r>
              <a:rPr lang="en-IN" sz="2400" b="1" dirty="0"/>
              <a:t>real-world healthcare problems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system can be further extended with </a:t>
            </a:r>
            <a:r>
              <a:rPr lang="en-IN" sz="2400" b="1" dirty="0"/>
              <a:t>real hospital databases, a graphical interface, and advanced healthcare features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Overall, </a:t>
            </a:r>
            <a:r>
              <a:rPr lang="en-IN" sz="2400" b="1" dirty="0" err="1"/>
              <a:t>HealthQuery</a:t>
            </a:r>
            <a:r>
              <a:rPr lang="en-IN" sz="2400" b="1" dirty="0"/>
              <a:t> shows how a well-designed digital system can improve the accessibility and organization of medical information.</a:t>
            </a:r>
            <a:r>
              <a:rPr lang="en-IN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333AD-A6B8-BCD2-3ECC-ACD2097E361D}"/>
              </a:ext>
            </a:extLst>
          </p:cNvPr>
          <p:cNvSpPr txBox="1"/>
          <p:nvPr/>
        </p:nvSpPr>
        <p:spPr>
          <a:xfrm>
            <a:off x="964818" y="923731"/>
            <a:ext cx="1026236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Integration with real hospital databases</a:t>
            </a:r>
            <a:r>
              <a:rPr lang="en-IN" sz="2400" dirty="0"/>
              <a:t> for handling larger volumes of patient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Web and mobile application</a:t>
            </a:r>
            <a:r>
              <a:rPr lang="en-IN" sz="2400" dirty="0"/>
              <a:t> to make the system easily accessible to doctors and healthcare staff.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AI-based medical search</a:t>
            </a:r>
            <a:r>
              <a:rPr lang="en-IN" sz="2400" dirty="0"/>
              <a:t> for more intelligent and personalized information retrieval.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Voice-based search</a:t>
            </a:r>
            <a:r>
              <a:rPr lang="en-IN" sz="2400" dirty="0"/>
              <a:t> to allow users to search patient or medical information using voice commands.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Real-time patient information updates</a:t>
            </a:r>
            <a:r>
              <a:rPr lang="en-IN" sz="2400" dirty="0"/>
              <a:t> for maintaining current medical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Advanced medical terminology support</a:t>
            </a:r>
            <a:r>
              <a:rPr lang="en-IN" sz="2400" dirty="0"/>
              <a:t> for handling more diseases, medicines, symptoms, and abbreviations.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Secure login and access control</a:t>
            </a:r>
            <a:r>
              <a:rPr lang="en-IN" sz="2400" dirty="0"/>
              <a:t> to protect sensitive patient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Scalable cloud-based deployment</a:t>
            </a:r>
            <a:r>
              <a:rPr lang="en-IN" sz="2400" dirty="0"/>
              <a:t> for supporting multiple hospitals and users.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Integration with healthcare systems</a:t>
            </a:r>
            <a:r>
              <a:rPr lang="en-IN" sz="2400" dirty="0"/>
              <a:t> such as electronic health records (EHR) for wider practical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1088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       Data Structures and Algorithms -3 (25CS2103E)  Title of the project : Efficient Text Search and Retrieval Techniques for Healthcare Systems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Mannem Mohana Asmitha</cp:lastModifiedBy>
  <cp:revision>23</cp:revision>
  <dcterms:created xsi:type="dcterms:W3CDTF">2024-08-29T05:25:00Z</dcterms:created>
  <dcterms:modified xsi:type="dcterms:W3CDTF">2026-10-05T18:35:32Z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